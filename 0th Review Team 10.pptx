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47" r:id="rId1"/>
  </p:sldMasterIdLst>
  <p:notesMasterIdLst>
    <p:notesMasterId r:id="rId14"/>
  </p:notesMasterIdLst>
  <p:sldIdLst>
    <p:sldId id="411" r:id="rId2"/>
    <p:sldId id="257" r:id="rId3"/>
    <p:sldId id="258" r:id="rId4"/>
    <p:sldId id="261" r:id="rId5"/>
    <p:sldId id="260" r:id="rId6"/>
    <p:sldId id="413" r:id="rId7"/>
    <p:sldId id="412" r:id="rId8"/>
    <p:sldId id="259" r:id="rId9"/>
    <p:sldId id="262"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A181A9-AAAC-48B9-9854-F3813AF3A7EF}" type="datetimeFigureOut">
              <a:rPr lang="en-IN" smtClean="0"/>
              <a:t>10-08-2026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D02675-C0DA-46FA-A4D5-32586EE1A659}" type="slidenum">
              <a:rPr lang="en-IN" smtClean="0"/>
              <a:t>‹#›</a:t>
            </a:fld>
            <a:endParaRPr lang="en-IN"/>
          </a:p>
        </p:txBody>
      </p:sp>
    </p:spTree>
    <p:extLst>
      <p:ext uri="{BB962C8B-B14F-4D97-AF65-F5344CB8AC3E}">
        <p14:creationId xmlns:p14="http://schemas.microsoft.com/office/powerpoint/2010/main" val="1851190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D02675-C0DA-46FA-A4D5-32586EE1A659}" type="slidenum">
              <a:rPr lang="en-IN" smtClean="0"/>
              <a:t>1</a:t>
            </a:fld>
            <a:endParaRPr lang="en-IN"/>
          </a:p>
        </p:txBody>
      </p:sp>
    </p:spTree>
    <p:extLst>
      <p:ext uri="{BB962C8B-B14F-4D97-AF65-F5344CB8AC3E}">
        <p14:creationId xmlns:p14="http://schemas.microsoft.com/office/powerpoint/2010/main" val="909746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D02675-C0DA-46FA-A4D5-32586EE1A659}" type="slidenum">
              <a:rPr lang="en-IN" smtClean="0"/>
              <a:t>5</a:t>
            </a:fld>
            <a:endParaRPr lang="en-IN"/>
          </a:p>
        </p:txBody>
      </p:sp>
    </p:spTree>
    <p:extLst>
      <p:ext uri="{BB962C8B-B14F-4D97-AF65-F5344CB8AC3E}">
        <p14:creationId xmlns:p14="http://schemas.microsoft.com/office/powerpoint/2010/main" val="3475500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GB"/>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2423382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707797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267470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1B901AF-CCF7-4BC5-8952-8FA7910A9D09}"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282630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1B901AF-CCF7-4BC5-8952-8FA7910A9D09}" type="datetimeFigureOut">
              <a:rPr lang="en-IN" smtClean="0"/>
              <a:t>10-08-2026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3742289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1B901AF-CCF7-4BC5-8952-8FA7910A9D09}" type="datetimeFigureOut">
              <a:rPr lang="en-IN" smtClean="0"/>
              <a:t>10-08-2026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2755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B901AF-CCF7-4BC5-8952-8FA7910A9D09}" type="datetimeFigureOut">
              <a:rPr lang="en-IN" smtClean="0"/>
              <a:t>10-08-2026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2972730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1B901AF-CCF7-4BC5-8952-8FA7910A9D09}"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3347897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1B901AF-CCF7-4BC5-8952-8FA7910A9D09}"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172904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1B901AF-CCF7-4BC5-8952-8FA7910A9D09}" type="datetimeFigureOut">
              <a:rPr lang="en-IN" smtClean="0"/>
              <a:t>10-08-2026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16136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808007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434845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2271041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4113808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11507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303778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1B901AF-CCF7-4BC5-8952-8FA7910A9D09}" type="datetimeFigureOut">
              <a:rPr lang="en-IN" smtClean="0"/>
              <a:t>10-08-2026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569F5-ACF6-4053-9A37-9B1CD2F5C045}" type="slidenum">
              <a:rPr lang="en-IN" smtClean="0"/>
              <a:t>‹#›</a:t>
            </a:fld>
            <a:endParaRPr lang="en-IN"/>
          </a:p>
        </p:txBody>
      </p:sp>
    </p:spTree>
    <p:extLst>
      <p:ext uri="{BB962C8B-B14F-4D97-AF65-F5344CB8AC3E}">
        <p14:creationId xmlns:p14="http://schemas.microsoft.com/office/powerpoint/2010/main" val="4222172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1B901AF-CCF7-4BC5-8952-8FA7910A9D09}" type="datetimeFigureOut">
              <a:rPr lang="en-IN" smtClean="0"/>
              <a:t>10-08-2026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30569F5-ACF6-4053-9A37-9B1CD2F5C045}" type="slidenum">
              <a:rPr lang="en-IN" smtClean="0"/>
              <a:t>‹#›</a:t>
            </a:fld>
            <a:endParaRPr lang="en-IN"/>
          </a:p>
        </p:txBody>
      </p:sp>
    </p:spTree>
    <p:extLst>
      <p:ext uri="{BB962C8B-B14F-4D97-AF65-F5344CB8AC3E}">
        <p14:creationId xmlns:p14="http://schemas.microsoft.com/office/powerpoint/2010/main" val="4003740502"/>
      </p:ext>
    </p:extLst>
  </p:cSld>
  <p:clrMap bg1="lt1" tx1="dk1" bg2="lt2" tx2="dk2" accent1="accent1" accent2="accent2" accent3="accent3" accent4="accent4" accent5="accent5" accent6="accent6" hlink="hlink" folHlink="folHlink"/>
  <p:sldLayoutIdLst>
    <p:sldLayoutId id="2147484548" r:id="rId1"/>
    <p:sldLayoutId id="2147484549" r:id="rId2"/>
    <p:sldLayoutId id="2147484550" r:id="rId3"/>
    <p:sldLayoutId id="2147484551" r:id="rId4"/>
    <p:sldLayoutId id="2147484552" r:id="rId5"/>
    <p:sldLayoutId id="2147484553" r:id="rId6"/>
    <p:sldLayoutId id="2147484554" r:id="rId7"/>
    <p:sldLayoutId id="2147484555" r:id="rId8"/>
    <p:sldLayoutId id="2147484556" r:id="rId9"/>
    <p:sldLayoutId id="2147484557" r:id="rId10"/>
    <p:sldLayoutId id="2147484558" r:id="rId11"/>
    <p:sldLayoutId id="2147484559" r:id="rId12"/>
    <p:sldLayoutId id="2147484560" r:id="rId13"/>
    <p:sldLayoutId id="2147484561" r:id="rId14"/>
    <p:sldLayoutId id="2147484562" r:id="rId15"/>
    <p:sldLayoutId id="2147484563" r:id="rId16"/>
    <p:sldLayoutId id="214748456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444EEF-7933-B63B-9103-0B6956244F95}"/>
              </a:ext>
            </a:extLst>
          </p:cNvPr>
          <p:cNvSpPr>
            <a:spLocks noGrp="1"/>
          </p:cNvSpPr>
          <p:nvPr>
            <p:ph type="sldNum" sz="quarter" idx="12"/>
          </p:nvPr>
        </p:nvSpPr>
        <p:spPr>
          <a:xfrm>
            <a:off x="10951856" y="5883275"/>
            <a:ext cx="551167" cy="365125"/>
          </a:xfrm>
        </p:spPr>
        <p:txBody>
          <a:bodyPr/>
          <a:lstStyle/>
          <a:p>
            <a:fld id="{B9713C8C-8E70-45D5-AE59-23E60168254E}" type="slidenum">
              <a:rPr lang="en-US" smtClean="0"/>
              <a:pPr/>
              <a:t>1</a:t>
            </a:fld>
            <a:endParaRPr lang="en-US" dirty="0"/>
          </a:p>
        </p:txBody>
      </p:sp>
      <p:pic>
        <p:nvPicPr>
          <p:cNvPr id="5" name="Picture 4">
            <a:extLst>
              <a:ext uri="{FF2B5EF4-FFF2-40B4-BE49-F238E27FC236}">
                <a16:creationId xmlns:a16="http://schemas.microsoft.com/office/drawing/2014/main" id="{CBC658FB-D34C-3808-A10E-B29C8DD79909}"/>
              </a:ext>
            </a:extLst>
          </p:cNvPr>
          <p:cNvPicPr>
            <a:picLocks noChangeAspect="1"/>
          </p:cNvPicPr>
          <p:nvPr/>
        </p:nvPicPr>
        <p:blipFill>
          <a:blip r:embed="rId3"/>
          <a:stretch>
            <a:fillRect/>
          </a:stretch>
        </p:blipFill>
        <p:spPr>
          <a:xfrm>
            <a:off x="716747" y="500221"/>
            <a:ext cx="10758506" cy="1195388"/>
          </a:xfrm>
          <a:prstGeom prst="rect">
            <a:avLst/>
          </a:prstGeom>
        </p:spPr>
      </p:pic>
      <p:sp>
        <p:nvSpPr>
          <p:cNvPr id="7" name="TextBox 6">
            <a:extLst>
              <a:ext uri="{FF2B5EF4-FFF2-40B4-BE49-F238E27FC236}">
                <a16:creationId xmlns:a16="http://schemas.microsoft.com/office/drawing/2014/main" id="{9EBC40E5-33E4-9B1B-56F5-9132B6443DB8}"/>
              </a:ext>
            </a:extLst>
          </p:cNvPr>
          <p:cNvSpPr txBox="1"/>
          <p:nvPr/>
        </p:nvSpPr>
        <p:spPr>
          <a:xfrm>
            <a:off x="716748" y="2184400"/>
            <a:ext cx="10758506" cy="400110"/>
          </a:xfrm>
          <a:prstGeom prst="rect">
            <a:avLst/>
          </a:prstGeom>
          <a:noFill/>
        </p:spPr>
        <p:txBody>
          <a:bodyPr wrap="square" rtlCol="0">
            <a:spAutoFit/>
          </a:bodyPr>
          <a:lstStyle/>
          <a:p>
            <a:pPr algn="ctr"/>
            <a:r>
              <a:rPr lang="en-IN" sz="2000" b="1" dirty="0">
                <a:latin typeface="+mj-lt"/>
              </a:rPr>
              <a:t>AI-Powered Smart Assistive System for Visually Impaired Individuals  </a:t>
            </a:r>
          </a:p>
        </p:txBody>
      </p:sp>
      <p:sp>
        <p:nvSpPr>
          <p:cNvPr id="8" name="TextBox 7">
            <a:extLst>
              <a:ext uri="{FF2B5EF4-FFF2-40B4-BE49-F238E27FC236}">
                <a16:creationId xmlns:a16="http://schemas.microsoft.com/office/drawing/2014/main" id="{9A0E9A94-D1EA-1D24-2354-201D07A7DD7B}"/>
              </a:ext>
            </a:extLst>
          </p:cNvPr>
          <p:cNvSpPr txBox="1"/>
          <p:nvPr/>
        </p:nvSpPr>
        <p:spPr>
          <a:xfrm>
            <a:off x="716743" y="3576320"/>
            <a:ext cx="4983013" cy="2671180"/>
          </a:xfrm>
          <a:prstGeom prst="rect">
            <a:avLst/>
          </a:prstGeom>
          <a:noFill/>
        </p:spPr>
        <p:txBody>
          <a:bodyPr wrap="square" rtlCol="0">
            <a:spAutoFit/>
          </a:bodyPr>
          <a:lstStyle/>
          <a:p>
            <a:pPr algn="ctr"/>
            <a:r>
              <a:rPr lang="en-IN" b="1" dirty="0"/>
              <a:t>PROJECT GUIDE</a:t>
            </a:r>
          </a:p>
          <a:p>
            <a:endParaRPr lang="en-IN" dirty="0"/>
          </a:p>
          <a:p>
            <a:pPr>
              <a:lnSpc>
                <a:spcPct val="150000"/>
              </a:lnSpc>
            </a:pPr>
            <a:r>
              <a:rPr lang="en-IN" dirty="0">
                <a:latin typeface="Times New Roman" panose="02020603050405020304" pitchFamily="18" charset="0"/>
                <a:cs typeface="Times New Roman" panose="02020603050405020304" pitchFamily="18" charset="0"/>
              </a:rPr>
              <a:t>        Mr. K. Prakash , M.E.,(</a:t>
            </a:r>
            <a:r>
              <a:rPr lang="en-IN" dirty="0" err="1">
                <a:latin typeface="Times New Roman" panose="02020603050405020304" pitchFamily="18" charset="0"/>
                <a:cs typeface="Times New Roman" panose="02020603050405020304" pitchFamily="18" charset="0"/>
              </a:rPr>
              <a:t>Ph.D</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Assistant Professor,</a:t>
            </a:r>
          </a:p>
          <a:p>
            <a:pPr>
              <a:lnSpc>
                <a:spcPct val="150000"/>
              </a:lnSpc>
            </a:pPr>
            <a:r>
              <a:rPr lang="en-IN" dirty="0">
                <a:latin typeface="Times New Roman" panose="02020603050405020304" pitchFamily="18" charset="0"/>
                <a:cs typeface="Times New Roman" panose="02020603050405020304" pitchFamily="18" charset="0"/>
              </a:rPr>
              <a:t>        Department of CSE,</a:t>
            </a:r>
          </a:p>
          <a:p>
            <a:pPr>
              <a:lnSpc>
                <a:spcPct val="150000"/>
              </a:lnSpc>
            </a:pPr>
            <a:r>
              <a:rPr lang="en-IN" dirty="0">
                <a:latin typeface="Times New Roman" panose="02020603050405020304" pitchFamily="18" charset="0"/>
                <a:cs typeface="Times New Roman" panose="02020603050405020304" pitchFamily="18" charset="0"/>
              </a:rPr>
              <a:t>        Government College of Engineering,</a:t>
            </a:r>
          </a:p>
          <a:p>
            <a:pPr>
              <a:lnSpc>
                <a:spcPct val="150000"/>
              </a:lnSpc>
            </a:pPr>
            <a:r>
              <a:rPr lang="en-IN" dirty="0">
                <a:latin typeface="Times New Roman" panose="02020603050405020304" pitchFamily="18" charset="0"/>
                <a:cs typeface="Times New Roman" panose="02020603050405020304" pitchFamily="18" charset="0"/>
              </a:rPr>
              <a:t>        Dharmapuri</a:t>
            </a:r>
            <a:r>
              <a:rPr lang="en-IN" dirty="0"/>
              <a:t>.</a:t>
            </a:r>
          </a:p>
        </p:txBody>
      </p:sp>
      <p:sp>
        <p:nvSpPr>
          <p:cNvPr id="10" name="TextBox 9">
            <a:extLst>
              <a:ext uri="{FF2B5EF4-FFF2-40B4-BE49-F238E27FC236}">
                <a16:creationId xmlns:a16="http://schemas.microsoft.com/office/drawing/2014/main" id="{B3308D56-63D4-9B5D-09F3-58CFE6BE55AA}"/>
              </a:ext>
            </a:extLst>
          </p:cNvPr>
          <p:cNvSpPr txBox="1"/>
          <p:nvPr/>
        </p:nvSpPr>
        <p:spPr>
          <a:xfrm>
            <a:off x="6096001" y="3576320"/>
            <a:ext cx="5379256" cy="2258567"/>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TEAM MEMBERS</a:t>
            </a:r>
          </a:p>
          <a:p>
            <a:endParaRPr lang="en-IN" b="1"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MOHAMED RAFIQ I	  (</a:t>
            </a:r>
            <a:r>
              <a:rPr lang="en-IN" dirty="0">
                <a:solidFill>
                  <a:srgbClr val="000000"/>
                </a:solidFill>
                <a:latin typeface="Times New Roman" panose="02020603050405020304" pitchFamily="18" charset="0"/>
                <a:cs typeface="Times New Roman" panose="02020603050405020304" pitchFamily="18" charset="0"/>
              </a:rPr>
              <a:t>613523104027</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DINESH S     	                  (</a:t>
            </a:r>
            <a:r>
              <a:rPr lang="en-IN" dirty="0">
                <a:solidFill>
                  <a:srgbClr val="000000"/>
                </a:solidFill>
                <a:latin typeface="Times New Roman" panose="02020603050405020304" pitchFamily="18" charset="0"/>
                <a:cs typeface="Times New Roman" panose="02020603050405020304" pitchFamily="18" charset="0"/>
              </a:rPr>
              <a:t>613523104008</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KALIAPPAN                     (</a:t>
            </a:r>
            <a:r>
              <a:rPr lang="en-IN" dirty="0">
                <a:solidFill>
                  <a:srgbClr val="000000"/>
                </a:solidFill>
                <a:latin typeface="Times New Roman" panose="02020603050405020304" pitchFamily="18" charset="0"/>
                <a:cs typeface="Times New Roman" panose="02020603050405020304" pitchFamily="18" charset="0"/>
              </a:rPr>
              <a:t>613523104018</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               VISHAL N                	  (</a:t>
            </a:r>
            <a:r>
              <a:rPr lang="en-IN" dirty="0">
                <a:solidFill>
                  <a:srgbClr val="000000"/>
                </a:solidFill>
                <a:latin typeface="Times New Roman" panose="02020603050405020304" pitchFamily="18" charset="0"/>
                <a:cs typeface="Times New Roman" panose="02020603050405020304" pitchFamily="18" charset="0"/>
              </a:rPr>
              <a:t>613523104051</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62318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47529-5184-D1A4-7231-EC95C8E6EC6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CONTENT</a:t>
            </a:r>
          </a:p>
        </p:txBody>
      </p:sp>
      <p:sp>
        <p:nvSpPr>
          <p:cNvPr id="3" name="Content Placeholder 2">
            <a:extLst>
              <a:ext uri="{FF2B5EF4-FFF2-40B4-BE49-F238E27FC236}">
                <a16:creationId xmlns:a16="http://schemas.microsoft.com/office/drawing/2014/main" id="{7A2BF5CA-0772-EC55-93BF-79D93339ACE2}"/>
              </a:ext>
            </a:extLst>
          </p:cNvPr>
          <p:cNvSpPr>
            <a:spLocks noGrp="1"/>
          </p:cNvSpPr>
          <p:nvPr>
            <p:ph idx="1"/>
          </p:nvPr>
        </p:nvSpPr>
        <p:spPr>
          <a:xfrm>
            <a:off x="2173287" y="2652008"/>
            <a:ext cx="10018713" cy="3124201"/>
          </a:xfrm>
        </p:spPr>
        <p:txBody>
          <a:bodyPr>
            <a:normAutofit fontScale="25000" lnSpcReduction="20000"/>
          </a:bodyPr>
          <a:lstStyle/>
          <a:p>
            <a:pPr lvl="0">
              <a:lnSpc>
                <a:spcPct val="150000"/>
              </a:lnSpc>
              <a:spcBef>
                <a:spcPts val="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INTRODUCTION</a:t>
            </a:r>
            <a:endParaRPr lang="en-US" sz="7200" dirty="0">
              <a:latin typeface="Times New Roman" panose="02020603050405020304" pitchFamily="18" charset="0"/>
              <a:cs typeface="Times New Roman" panose="02020603050405020304" pitchFamily="18" charset="0"/>
            </a:endParaRP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OBJECTIVE</a:t>
            </a:r>
            <a:endParaRPr lang="en-US" sz="7200" dirty="0">
              <a:latin typeface="Times New Roman" panose="02020603050405020304" pitchFamily="18" charset="0"/>
              <a:cs typeface="Times New Roman" panose="02020603050405020304" pitchFamily="18" charset="0"/>
            </a:endParaRP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LITERATURE REVIEW </a:t>
            </a: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BASE PAPER</a:t>
            </a:r>
          </a:p>
          <a:p>
            <a:pPr lvl="0">
              <a:lnSpc>
                <a:spcPct val="150000"/>
              </a:lnSpc>
              <a:spcBef>
                <a:spcPts val="600"/>
              </a:spcBef>
              <a:buClr>
                <a:schemeClr val="dk1"/>
              </a:buClr>
              <a:buSzPts val="2100"/>
              <a:buFont typeface="Wingdings" panose="05000000000000000000" pitchFamily="2" charset="2"/>
              <a:buChar char="Ø"/>
            </a:pPr>
            <a:r>
              <a:rPr lang="en-US" sz="7200" dirty="0">
                <a:latin typeface="Times New Roman" panose="02020603050405020304" pitchFamily="18" charset="0"/>
                <a:cs typeface="Times New Roman" panose="02020603050405020304" pitchFamily="18" charset="0"/>
              </a:rPr>
              <a:t>RESEARCH GAP</a:t>
            </a: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PROPOSED APPROACH</a:t>
            </a:r>
            <a:endParaRPr lang="en-US" sz="7200" dirty="0">
              <a:latin typeface="Times New Roman" panose="02020603050405020304" pitchFamily="18" charset="0"/>
              <a:cs typeface="Times New Roman" panose="02020603050405020304" pitchFamily="18" charset="0"/>
            </a:endParaRP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SCOPE</a:t>
            </a:r>
            <a:endParaRPr lang="en-US" sz="7200" dirty="0">
              <a:latin typeface="Times New Roman" panose="02020603050405020304" pitchFamily="18" charset="0"/>
              <a:cs typeface="Times New Roman" panose="02020603050405020304" pitchFamily="18" charset="0"/>
            </a:endParaRP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NOVELTY IN PROJECT</a:t>
            </a:r>
            <a:endParaRPr lang="en-US" sz="7200" dirty="0">
              <a:latin typeface="Times New Roman" panose="02020603050405020304" pitchFamily="18" charset="0"/>
              <a:cs typeface="Times New Roman" panose="02020603050405020304" pitchFamily="18" charset="0"/>
            </a:endParaRPr>
          </a:p>
          <a:p>
            <a:pPr lvl="0">
              <a:lnSpc>
                <a:spcPct val="150000"/>
              </a:lnSpc>
              <a:spcBef>
                <a:spcPts val="600"/>
              </a:spcBef>
              <a:buClr>
                <a:schemeClr val="dk1"/>
              </a:buClr>
              <a:buSzPts val="2100"/>
              <a:buFont typeface="Wingdings" panose="05000000000000000000" pitchFamily="2" charset="2"/>
              <a:buChar char="Ø"/>
            </a:pPr>
            <a:r>
              <a:rPr lang="en-US" sz="7200" dirty="0">
                <a:solidFill>
                  <a:schemeClr val="dk1"/>
                </a:solidFill>
                <a:latin typeface="Times New Roman" panose="02020603050405020304" pitchFamily="18" charset="0"/>
                <a:ea typeface="Gill Sans"/>
                <a:cs typeface="Times New Roman" panose="02020603050405020304" pitchFamily="18" charset="0"/>
                <a:sym typeface="Gill Sans"/>
              </a:rPr>
              <a:t>REFERENCES</a:t>
            </a:r>
            <a:endParaRPr lang="en-US" sz="72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588756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E4B1D-C3D7-0FA7-A196-1B3CF6F8F4CF}"/>
              </a:ext>
            </a:extLst>
          </p:cNvPr>
          <p:cNvSpPr>
            <a:spLocks noGrp="1"/>
          </p:cNvSpPr>
          <p:nvPr>
            <p:ph type="title"/>
          </p:nvPr>
        </p:nvSpPr>
        <p:spPr>
          <a:xfrm>
            <a:off x="1509294" y="190500"/>
            <a:ext cx="10018713" cy="1752599"/>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64CEE66-AD04-EACC-5E15-3A8FEA77FADA}"/>
              </a:ext>
            </a:extLst>
          </p:cNvPr>
          <p:cNvSpPr>
            <a:spLocks noGrp="1"/>
          </p:cNvSpPr>
          <p:nvPr>
            <p:ph idx="1"/>
          </p:nvPr>
        </p:nvSpPr>
        <p:spPr>
          <a:xfrm>
            <a:off x="1509294" y="2457137"/>
            <a:ext cx="10018713" cy="3137418"/>
          </a:xfrm>
        </p:spPr>
        <p:txBody>
          <a:bodyPr>
            <a:noAutofit/>
          </a:bodyPr>
          <a:lstStyle/>
          <a:p>
            <a:r>
              <a:rPr lang="en-US" sz="1800" dirty="0">
                <a:latin typeface="Times New Roman" panose="02020603050405020304" pitchFamily="18" charset="0"/>
                <a:cs typeface="Times New Roman" panose="02020603050405020304" pitchFamily="18" charset="0"/>
              </a:rPr>
              <a:t>People who are visually impaired face many challenges, ranging from walking independently and recognizing their surroundings to being able to perform common tasks on their own.</a:t>
            </a:r>
          </a:p>
          <a:p>
            <a:r>
              <a:rPr lang="en-US" sz="1800" dirty="0">
                <a:latin typeface="Times New Roman" panose="02020603050405020304" pitchFamily="18" charset="0"/>
                <a:cs typeface="Times New Roman" panose="02020603050405020304" pitchFamily="18" charset="0"/>
              </a:rPr>
              <a:t>Currently, the most common tools that help visually impaired people are white canes and guide dogs.</a:t>
            </a:r>
          </a:p>
          <a:p>
            <a:r>
              <a:rPr lang="en-US" sz="1800" dirty="0">
                <a:latin typeface="Times New Roman" panose="02020603050405020304" pitchFamily="18" charset="0"/>
                <a:cs typeface="Times New Roman" panose="02020603050405020304" pitchFamily="18" charset="0"/>
              </a:rPr>
              <a:t>While they allow a person to walk on their own, they cannot provide much information about the environment.</a:t>
            </a:r>
          </a:p>
          <a:p>
            <a:r>
              <a:rPr lang="en-US" sz="1800" dirty="0">
                <a:latin typeface="Times New Roman" panose="02020603050405020304" pitchFamily="18" charset="0"/>
                <a:cs typeface="Times New Roman" panose="02020603050405020304" pitchFamily="18" charset="0"/>
              </a:rPr>
              <a:t>Computer Vision and AI can assist people with visual impairments by recognizing objects, identifying surroundings, avoiding obstacles, and helping them.</a:t>
            </a:r>
          </a:p>
          <a:p>
            <a:r>
              <a:rPr lang="en-US" sz="1800" dirty="0">
                <a:latin typeface="Times New Roman" panose="02020603050405020304" pitchFamily="18" charset="0"/>
                <a:cs typeface="Times New Roman" panose="02020603050405020304" pitchFamily="18" charset="0"/>
              </a:rPr>
              <a:t>However, current versions of these tools usually only allow the recognition of obstacles or require specific hardware that is not commonly found, ultimately limiting their usefulness and accessibility.</a:t>
            </a:r>
          </a:p>
          <a:p>
            <a:r>
              <a:rPr lang="en-US" sz="1800" dirty="0">
                <a:latin typeface="Times New Roman" panose="02020603050405020304" pitchFamily="18" charset="0"/>
                <a:cs typeface="Times New Roman" panose="02020603050405020304" pitchFamily="18" charset="0"/>
              </a:rPr>
              <a:t>This project will be an AI companion that helps people that are visually impaired to walk around safely, identify their surroundings, communicate via voice, find objects, and activate an Emergency SOS.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4127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54F88-63B9-D938-7242-EFF9A4A8BB75}"/>
              </a:ext>
            </a:extLst>
          </p:cNvPr>
          <p:cNvSpPr>
            <a:spLocks noGrp="1"/>
          </p:cNvSpPr>
          <p:nvPr>
            <p:ph type="title"/>
          </p:nvPr>
        </p:nvSpPr>
        <p:spPr/>
        <p:txBody>
          <a:bodyPr/>
          <a:lstStyle/>
          <a:p>
            <a:r>
              <a:rPr lang="en-US" dirty="0">
                <a:solidFill>
                  <a:schemeClr val="dk1"/>
                </a:solidFill>
                <a:latin typeface="Times New Roman" panose="02020603050405020304" pitchFamily="18" charset="0"/>
                <a:ea typeface="Gill Sans"/>
                <a:cs typeface="Times New Roman" panose="02020603050405020304" pitchFamily="18" charset="0"/>
                <a:sym typeface="Gill Sans"/>
              </a:rPr>
              <a:t>OBJECTIVE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65AF81-F4B1-4399-B9FC-3BD4778EEABF}"/>
              </a:ext>
            </a:extLst>
          </p:cNvPr>
          <p:cNvSpPr>
            <a:spLocks noGrp="1"/>
          </p:cNvSpPr>
          <p:nvPr>
            <p:ph idx="1"/>
          </p:nvPr>
        </p:nvSpPr>
        <p:spPr>
          <a:xfrm>
            <a:off x="1484310" y="2244212"/>
            <a:ext cx="10018713" cy="3124201"/>
          </a:xfrm>
        </p:spPr>
        <p:txBody>
          <a:bodyPr>
            <a:noAutofit/>
          </a:bodyPr>
          <a:lstStyle/>
          <a:p>
            <a:r>
              <a:rPr lang="en-US" sz="1800" dirty="0">
                <a:latin typeface="Times New Roman" panose="02020603050405020304" pitchFamily="18" charset="0"/>
                <a:cs typeface="Times New Roman" panose="02020603050405020304" pitchFamily="18" charset="0"/>
              </a:rPr>
              <a:t>Improve independent mobility by providing users with the confidence and capability to navigate their environment with greater ease and less reliance on others.</a:t>
            </a:r>
          </a:p>
          <a:p>
            <a:r>
              <a:rPr lang="en-US" sz="1800" dirty="0">
                <a:latin typeface="Times New Roman" panose="02020603050405020304" pitchFamily="18" charset="0"/>
                <a:cs typeface="Times New Roman" panose="02020603050405020304" pitchFamily="18" charset="0"/>
              </a:rPr>
              <a:t>Increase environmental awareness by giving users valuable information about their surroundings through accessible audio and tactile alerts, such as objects, people, potential hazards, and more.</a:t>
            </a:r>
          </a:p>
          <a:p>
            <a:r>
              <a:rPr lang="en-US" sz="1800" dirty="0">
                <a:latin typeface="Times New Roman" panose="02020603050405020304" pitchFamily="18" charset="0"/>
                <a:cs typeface="Times New Roman" panose="02020603050405020304" pitchFamily="18" charset="0"/>
              </a:rPr>
              <a:t>Offer assistance with retrieving valuable objects by giving users the ability to identify and locate personal belongings.</a:t>
            </a:r>
          </a:p>
          <a:p>
            <a:r>
              <a:rPr lang="en-US" sz="1800" dirty="0">
                <a:latin typeface="Times New Roman" panose="02020603050405020304" pitchFamily="18" charset="0"/>
                <a:cs typeface="Times New Roman" panose="02020603050405020304" pitchFamily="18" charset="0"/>
              </a:rPr>
              <a:t>Provide an intuitive and accessible way for users to gain information about their environment by letting them ask questions out loud and receive helpful answers.</a:t>
            </a:r>
          </a:p>
          <a:p>
            <a:r>
              <a:rPr lang="en-US" sz="1800" dirty="0">
                <a:latin typeface="Times New Roman" panose="02020603050405020304" pitchFamily="18" charset="0"/>
                <a:cs typeface="Times New Roman" panose="02020603050405020304" pitchFamily="18" charset="0"/>
              </a:rPr>
              <a:t>Give users confidence and peace of mind with alerts about potential dangers in their environment, plus an Emergency SOS feature to quickly request help when needed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30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76CFB-A9EA-798E-BE51-18A10EB1DBCF}"/>
              </a:ext>
            </a:extLst>
          </p:cNvPr>
          <p:cNvSpPr>
            <a:spLocks noGrp="1"/>
          </p:cNvSpPr>
          <p:nvPr>
            <p:ph type="title"/>
          </p:nvPr>
        </p:nvSpPr>
        <p:spPr/>
        <p:txBody>
          <a:bodyPr>
            <a:normAutofit/>
          </a:bodyPr>
          <a:lstStyle/>
          <a:p>
            <a:r>
              <a:rPr lang="en-US">
                <a:solidFill>
                  <a:schemeClr val="dk1"/>
                </a:solidFill>
                <a:latin typeface="Times New Roman" panose="02020603050405020304" pitchFamily="18" charset="0"/>
                <a:ea typeface="Gill Sans"/>
                <a:cs typeface="Times New Roman" panose="02020603050405020304" pitchFamily="18" charset="0"/>
                <a:sym typeface="Gill Sans"/>
              </a:rPr>
              <a:t>LITERATURE REVIEW</a:t>
            </a:r>
            <a:br>
              <a:rPr lang="en-US" dirty="0"/>
            </a:br>
            <a:endParaRPr lang="en-IN" dirty="0"/>
          </a:p>
        </p:txBody>
      </p:sp>
      <p:graphicFrame>
        <p:nvGraphicFramePr>
          <p:cNvPr id="8" name="Table 7">
            <a:extLst>
              <a:ext uri="{FF2B5EF4-FFF2-40B4-BE49-F238E27FC236}">
                <a16:creationId xmlns:a16="http://schemas.microsoft.com/office/drawing/2014/main" id="{DE64896E-2005-9BF1-7570-FC84354ABCAD}"/>
              </a:ext>
            </a:extLst>
          </p:cNvPr>
          <p:cNvGraphicFramePr>
            <a:graphicFrameLocks noGrp="1"/>
          </p:cNvGraphicFramePr>
          <p:nvPr>
            <p:extLst>
              <p:ext uri="{D42A27DB-BD31-4B8C-83A1-F6EECF244321}">
                <p14:modId xmlns:p14="http://schemas.microsoft.com/office/powerpoint/2010/main" val="4036784437"/>
              </p:ext>
            </p:extLst>
          </p:nvPr>
        </p:nvGraphicFramePr>
        <p:xfrm>
          <a:off x="658761" y="1759974"/>
          <a:ext cx="11228440" cy="4653587"/>
        </p:xfrm>
        <a:graphic>
          <a:graphicData uri="http://schemas.openxmlformats.org/drawingml/2006/table">
            <a:tbl>
              <a:tblPr>
                <a:tableStyleId>{073A0DAA-6AF3-43AB-8588-CEC1D06C72B9}</a:tableStyleId>
              </a:tblPr>
              <a:tblGrid>
                <a:gridCol w="712840">
                  <a:extLst>
                    <a:ext uri="{9D8B030D-6E8A-4147-A177-3AD203B41FA5}">
                      <a16:colId xmlns:a16="http://schemas.microsoft.com/office/drawing/2014/main" val="993849399"/>
                    </a:ext>
                  </a:extLst>
                </a:gridCol>
                <a:gridCol w="3105150">
                  <a:extLst>
                    <a:ext uri="{9D8B030D-6E8A-4147-A177-3AD203B41FA5}">
                      <a16:colId xmlns:a16="http://schemas.microsoft.com/office/drawing/2014/main" val="1890818655"/>
                    </a:ext>
                  </a:extLst>
                </a:gridCol>
                <a:gridCol w="3200400">
                  <a:extLst>
                    <a:ext uri="{9D8B030D-6E8A-4147-A177-3AD203B41FA5}">
                      <a16:colId xmlns:a16="http://schemas.microsoft.com/office/drawing/2014/main" val="3688692492"/>
                    </a:ext>
                  </a:extLst>
                </a:gridCol>
                <a:gridCol w="4210050">
                  <a:extLst>
                    <a:ext uri="{9D8B030D-6E8A-4147-A177-3AD203B41FA5}">
                      <a16:colId xmlns:a16="http://schemas.microsoft.com/office/drawing/2014/main" val="3756035463"/>
                    </a:ext>
                  </a:extLst>
                </a:gridCol>
              </a:tblGrid>
              <a:tr h="837879">
                <a:tc>
                  <a:txBody>
                    <a:bodyPr/>
                    <a:lstStyle/>
                    <a:p>
                      <a:pPr algn="ctr" fontAlgn="ctr">
                        <a:buNone/>
                      </a:pPr>
                      <a:r>
                        <a:rPr lang="en-IN" sz="1800" u="none" strike="noStrike" dirty="0">
                          <a:solidFill>
                            <a:schemeClr val="bg1"/>
                          </a:solidFill>
                          <a:effectLst/>
                          <a:latin typeface="Times New Roman" panose="02020603050405020304" pitchFamily="18" charset="0"/>
                          <a:cs typeface="Times New Roman" panose="02020603050405020304" pitchFamily="18" charset="0"/>
                        </a:rPr>
                        <a:t>S.NO</a:t>
                      </a:r>
                      <a:endParaRPr lang="en-IN" sz="18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50000"/>
                      </a:schemeClr>
                    </a:solidFill>
                  </a:tcPr>
                </a:tc>
                <a:tc>
                  <a:txBody>
                    <a:bodyPr/>
                    <a:lstStyle/>
                    <a:p>
                      <a:pPr lvl="1" algn="l" fontAlgn="ctr">
                        <a:buNone/>
                      </a:pPr>
                      <a:r>
                        <a:rPr lang="en-IN" sz="1800" u="none" strike="noStrike" dirty="0">
                          <a:solidFill>
                            <a:schemeClr val="bg1"/>
                          </a:solidFill>
                          <a:effectLst/>
                          <a:latin typeface="Times New Roman" panose="02020603050405020304" pitchFamily="18" charset="0"/>
                          <a:cs typeface="Times New Roman" panose="02020603050405020304" pitchFamily="18" charset="0"/>
                        </a:rPr>
                        <a:t>RESEARCH PAPER TITLE &amp; REFERENCE</a:t>
                      </a:r>
                      <a:endParaRPr lang="en-IN" sz="18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50000"/>
                      </a:schemeClr>
                    </a:solidFill>
                  </a:tcPr>
                </a:tc>
                <a:tc>
                  <a:txBody>
                    <a:bodyPr/>
                    <a:lstStyle/>
                    <a:p>
                      <a:pPr lvl="1" algn="l" fontAlgn="ctr">
                        <a:buNone/>
                      </a:pPr>
                      <a:r>
                        <a:rPr lang="en-IN" sz="1800" u="none" strike="noStrike" dirty="0">
                          <a:solidFill>
                            <a:schemeClr val="bg1"/>
                          </a:solidFill>
                          <a:effectLst/>
                          <a:latin typeface="Times New Roman" panose="02020603050405020304" pitchFamily="18" charset="0"/>
                          <a:cs typeface="Times New Roman" panose="02020603050405020304" pitchFamily="18" charset="0"/>
                        </a:rPr>
                        <a:t>USED METHODS / TECHNIQUES</a:t>
                      </a:r>
                      <a:endParaRPr lang="en-IN" sz="18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50000"/>
                      </a:schemeClr>
                    </a:solidFill>
                  </a:tcPr>
                </a:tc>
                <a:tc>
                  <a:txBody>
                    <a:bodyPr/>
                    <a:lstStyle/>
                    <a:p>
                      <a:pPr lvl="1" algn="l" fontAlgn="ctr">
                        <a:buNone/>
                      </a:pPr>
                      <a:r>
                        <a:rPr lang="en-IN" sz="1800" u="none" strike="noStrike" dirty="0">
                          <a:solidFill>
                            <a:schemeClr val="bg1"/>
                          </a:solidFill>
                          <a:effectLst/>
                          <a:latin typeface="Times New Roman" panose="02020603050405020304" pitchFamily="18" charset="0"/>
                          <a:cs typeface="Times New Roman" panose="02020603050405020304" pitchFamily="18" charset="0"/>
                        </a:rPr>
                        <a:t>ATTRIBUTES / PERFORMANCE</a:t>
                      </a:r>
                      <a:endParaRPr lang="en-IN" sz="18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50000"/>
                      </a:schemeClr>
                    </a:solidFill>
                  </a:tcPr>
                </a:tc>
                <a:extLst>
                  <a:ext uri="{0D108BD9-81ED-4DB2-BD59-A6C34878D82A}">
                    <a16:rowId xmlns:a16="http://schemas.microsoft.com/office/drawing/2014/main" val="4223356031"/>
                  </a:ext>
                </a:extLst>
              </a:tr>
              <a:tr h="763069">
                <a:tc>
                  <a:txBody>
                    <a:bodyPr/>
                    <a:lstStyle/>
                    <a:p>
                      <a:pPr algn="ctr" fontAlgn="t">
                        <a:buNone/>
                      </a:pPr>
                      <a:r>
                        <a:rPr lang="en-IN" sz="1800" u="none" strike="noStrike" dirty="0">
                          <a:effectLst/>
                          <a:latin typeface="Times New Roman" panose="02020603050405020304" pitchFamily="18" charset="0"/>
                          <a:cs typeface="Times New Roman" panose="02020603050405020304" pitchFamily="18" charset="0"/>
                        </a:rPr>
                        <a:t>1</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solidFill>
                      <a:schemeClr val="accent1">
                        <a:lumMod val="40000"/>
                        <a:lumOff val="6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YOLO + Optical Flow for Assistive Navigation – Dubey et al.</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YOLO, Optical Flow, Voice Feedback</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Real-time feedback; lacks motion differentiation &amp; ego-motion compensation</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134897924"/>
                  </a:ext>
                </a:extLst>
              </a:tr>
              <a:tr h="718182">
                <a:tc>
                  <a:txBody>
                    <a:bodyPr/>
                    <a:lstStyle/>
                    <a:p>
                      <a:pPr algn="ctr" fontAlgn="t">
                        <a:buNone/>
                      </a:pPr>
                      <a:r>
                        <a:rPr lang="en-IN" sz="1800" u="none" strike="noStrike" dirty="0">
                          <a:effectLst/>
                          <a:latin typeface="Times New Roman" panose="02020603050405020304" pitchFamily="18" charset="0"/>
                          <a:cs typeface="Times New Roman" panose="02020603050405020304" pitchFamily="18" charset="0"/>
                        </a:rPr>
                        <a:t>2</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solidFill>
                      <a:schemeClr val="accent1">
                        <a:lumMod val="20000"/>
                        <a:lumOff val="8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Mobile Computer Vision System – Bastidas-Guacho et al.</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YOLO, Auditory &amp; Haptic Feedback</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tc>
                  <a:txBody>
                    <a:bodyPr/>
                    <a:lstStyle/>
                    <a:p>
                      <a:pPr lvl="1" algn="l" fontAlgn="ctr">
                        <a:buNone/>
                      </a:pPr>
                      <a:r>
                        <a:rPr lang="en-IN" sz="1800" u="none" strike="noStrike" dirty="0" err="1">
                          <a:effectLst/>
                          <a:latin typeface="Times New Roman" panose="02020603050405020304" pitchFamily="18" charset="0"/>
                          <a:cs typeface="Times New Roman" panose="02020603050405020304" pitchFamily="18" charset="0"/>
                        </a:rPr>
                        <a:t>mAP</a:t>
                      </a:r>
                      <a:r>
                        <a:rPr lang="en-IN" sz="1800" u="none" strike="noStrike" dirty="0">
                          <a:effectLst/>
                          <a:latin typeface="Times New Roman" panose="02020603050405020304" pitchFamily="18" charset="0"/>
                          <a:cs typeface="Times New Roman" panose="02020603050405020304" pitchFamily="18" charset="0"/>
                        </a:rPr>
                        <a:t>: 0.42; no motion-aware processing</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1650119240"/>
                  </a:ext>
                </a:extLst>
              </a:tr>
              <a:tr h="673296">
                <a:tc>
                  <a:txBody>
                    <a:bodyPr/>
                    <a:lstStyle/>
                    <a:p>
                      <a:pPr algn="ctr" fontAlgn="t">
                        <a:buNone/>
                      </a:pPr>
                      <a:r>
                        <a:rPr lang="en-IN" sz="1800" u="none" strike="noStrike" dirty="0">
                          <a:effectLst/>
                          <a:latin typeface="Times New Roman" panose="02020603050405020304" pitchFamily="18" charset="0"/>
                          <a:cs typeface="Times New Roman" panose="02020603050405020304" pitchFamily="18" charset="0"/>
                        </a:rPr>
                        <a:t>3</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solidFill>
                      <a:schemeClr val="accent1">
                        <a:lumMod val="40000"/>
                        <a:lumOff val="60000"/>
                      </a:schemeClr>
                    </a:solidFill>
                  </a:tcPr>
                </a:tc>
                <a:tc>
                  <a:txBody>
                    <a:bodyPr/>
                    <a:lstStyle/>
                    <a:p>
                      <a:pPr lvl="1" algn="l" fontAlgn="ctr">
                        <a:buNone/>
                      </a:pPr>
                      <a:r>
                        <a:rPr lang="en-IN" sz="1800" u="none" strike="noStrike" dirty="0" err="1">
                          <a:effectLst/>
                          <a:latin typeface="Times New Roman" panose="02020603050405020304" pitchFamily="18" charset="0"/>
                          <a:cs typeface="Times New Roman" panose="02020603050405020304" pitchFamily="18" charset="0"/>
                        </a:rPr>
                        <a:t>PathFinder</a:t>
                      </a:r>
                      <a:r>
                        <a:rPr lang="en-IN" sz="1800" u="none" strike="noStrike" dirty="0">
                          <a:effectLst/>
                          <a:latin typeface="Times New Roman" panose="02020603050405020304" pitchFamily="18" charset="0"/>
                          <a:cs typeface="Times New Roman" panose="02020603050405020304" pitchFamily="18" charset="0"/>
                        </a:rPr>
                        <a:t> – Das et al.</a:t>
                      </a:r>
                      <a:endParaRPr lang="en-IN"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a:effectLst/>
                          <a:latin typeface="Times New Roman" panose="02020603050405020304" pitchFamily="18" charset="0"/>
                          <a:cs typeface="Times New Roman" panose="02020603050405020304" pitchFamily="18" charset="0"/>
                        </a:rPr>
                        <a:t>VLM, LLM, Monocular Depth, DFS</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Indoor/outdoor navigation; computationally intensive</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720004502"/>
                  </a:ext>
                </a:extLst>
              </a:tr>
              <a:tr h="807956">
                <a:tc>
                  <a:txBody>
                    <a:bodyPr/>
                    <a:lstStyle/>
                    <a:p>
                      <a:pPr algn="ctr" fontAlgn="t">
                        <a:buNone/>
                      </a:pPr>
                      <a:r>
                        <a:rPr lang="en-IN" sz="1800" u="none" strike="noStrike" dirty="0">
                          <a:effectLst/>
                          <a:latin typeface="Times New Roman" panose="02020603050405020304" pitchFamily="18" charset="0"/>
                          <a:cs typeface="Times New Roman" panose="02020603050405020304" pitchFamily="18" charset="0"/>
                        </a:rPr>
                        <a:t>4</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solidFill>
                      <a:schemeClr val="accent1">
                        <a:lumMod val="20000"/>
                        <a:lumOff val="80000"/>
                      </a:schemeClr>
                    </a:solidFill>
                  </a:tcPr>
                </a:tc>
                <a:tc>
                  <a:txBody>
                    <a:bodyPr/>
                    <a:lstStyle/>
                    <a:p>
                      <a:pPr lvl="1" algn="l" fontAlgn="ctr">
                        <a:buNone/>
                      </a:pPr>
                      <a:r>
                        <a:rPr lang="en-IN" sz="1800" u="none" strike="noStrike">
                          <a:effectLst/>
                          <a:latin typeface="Times New Roman" panose="02020603050405020304" pitchFamily="18" charset="0"/>
                          <a:cs typeface="Times New Roman" panose="02020603050405020304" pitchFamily="18" charset="0"/>
                        </a:rPr>
                        <a:t>Wearable IoT Object Detection – Noor et al.</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Raspberry Pi 4, YOLOv11</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Accuracy: 99.07%; limited to indoor furniture</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20000"/>
                        <a:lumOff val="80000"/>
                      </a:schemeClr>
                    </a:solidFill>
                  </a:tcPr>
                </a:tc>
                <a:extLst>
                  <a:ext uri="{0D108BD9-81ED-4DB2-BD59-A6C34878D82A}">
                    <a16:rowId xmlns:a16="http://schemas.microsoft.com/office/drawing/2014/main" val="438949936"/>
                  </a:ext>
                </a:extLst>
              </a:tr>
              <a:tr h="673296">
                <a:tc>
                  <a:txBody>
                    <a:bodyPr/>
                    <a:lstStyle/>
                    <a:p>
                      <a:pPr algn="ctr" fontAlgn="t">
                        <a:buNone/>
                      </a:pPr>
                      <a:r>
                        <a:rPr lang="en-IN" sz="1800" u="none" strike="noStrike" dirty="0">
                          <a:effectLst/>
                          <a:latin typeface="Times New Roman" panose="02020603050405020304" pitchFamily="18" charset="0"/>
                          <a:cs typeface="Times New Roman" panose="02020603050405020304" pitchFamily="18" charset="0"/>
                        </a:rPr>
                        <a:t>5</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solidFill>
                      <a:schemeClr val="accent1">
                        <a:lumMod val="40000"/>
                        <a:lumOff val="60000"/>
                      </a:schemeClr>
                    </a:solidFill>
                  </a:tcPr>
                </a:tc>
                <a:tc>
                  <a:txBody>
                    <a:bodyPr/>
                    <a:lstStyle/>
                    <a:p>
                      <a:pPr lvl="1" algn="l" fontAlgn="ctr">
                        <a:buNone/>
                      </a:pPr>
                      <a:r>
                        <a:rPr lang="en-IN" sz="1800" u="none" strike="noStrike">
                          <a:effectLst/>
                          <a:latin typeface="Times New Roman" panose="02020603050405020304" pitchFamily="18" charset="0"/>
                          <a:cs typeface="Times New Roman" panose="02020603050405020304" pitchFamily="18" charset="0"/>
                        </a:rPr>
                        <a:t>ECEHLY-V2 – Jemin &amp; Sasikumar</a:t>
                      </a:r>
                      <a:endParaRPr lang="en-IN" sz="1800" b="1"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a:effectLst/>
                          <a:latin typeface="Times New Roman" panose="02020603050405020304" pitchFamily="18" charset="0"/>
                          <a:cs typeface="Times New Roman" panose="02020603050405020304" pitchFamily="18" charset="0"/>
                        </a:rPr>
                        <a:t>YOLO-Fastest V2, Elk Herd Optimization</a:t>
                      </a:r>
                      <a:endParaRPr lang="en-I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tc>
                  <a:txBody>
                    <a:bodyPr/>
                    <a:lstStyle/>
                    <a:p>
                      <a:pPr lvl="1" algn="l" fontAlgn="ctr">
                        <a:buNone/>
                      </a:pPr>
                      <a:r>
                        <a:rPr lang="en-IN" sz="1800" u="none" strike="noStrike" dirty="0">
                          <a:effectLst/>
                          <a:latin typeface="Times New Roman" panose="02020603050405020304" pitchFamily="18" charset="0"/>
                          <a:cs typeface="Times New Roman" panose="02020603050405020304" pitchFamily="18" charset="0"/>
                        </a:rPr>
                        <a:t>Accuracy: 99.8%; no ego-motion compensation</a:t>
                      </a:r>
                      <a:endParaRPr lang="en-I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977211502"/>
                  </a:ext>
                </a:extLst>
              </a:tr>
            </a:tbl>
          </a:graphicData>
        </a:graphic>
      </p:graphicFrame>
    </p:spTree>
    <p:extLst>
      <p:ext uri="{BB962C8B-B14F-4D97-AF65-F5344CB8AC3E}">
        <p14:creationId xmlns:p14="http://schemas.microsoft.com/office/powerpoint/2010/main" val="370004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EF65-C1DF-F3FD-5431-C8045FF9E4C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BASE PAPER</a:t>
            </a:r>
          </a:p>
        </p:txBody>
      </p:sp>
      <p:sp>
        <p:nvSpPr>
          <p:cNvPr id="3" name="Content Placeholder 2">
            <a:extLst>
              <a:ext uri="{FF2B5EF4-FFF2-40B4-BE49-F238E27FC236}">
                <a16:creationId xmlns:a16="http://schemas.microsoft.com/office/drawing/2014/main" id="{23442B2A-355C-0712-A1DD-BC21447A71BB}"/>
              </a:ext>
            </a:extLst>
          </p:cNvPr>
          <p:cNvSpPr>
            <a:spLocks noGrp="1"/>
          </p:cNvSpPr>
          <p:nvPr>
            <p:ph idx="1"/>
          </p:nvPr>
        </p:nvSpPr>
        <p:spPr>
          <a:xfrm>
            <a:off x="1484311" y="2262265"/>
            <a:ext cx="10018713" cy="3124201"/>
          </a:xfrm>
        </p:spPr>
        <p:txBody>
          <a:bodyPr>
            <a:normAutofit fontScale="70000" lnSpcReduction="20000"/>
          </a:bodyPr>
          <a:lstStyle/>
          <a:p>
            <a:pPr marL="0" indent="0">
              <a:buNone/>
            </a:pPr>
            <a:r>
              <a:rPr lang="en-US" sz="2600" b="1" dirty="0">
                <a:latin typeface="Times New Roman" panose="02020603050405020304" pitchFamily="18" charset="0"/>
                <a:cs typeface="Times New Roman" panose="02020603050405020304" pitchFamily="18" charset="0"/>
              </a:rPr>
              <a:t>Title: </a:t>
            </a:r>
            <a:r>
              <a:rPr lang="en-US" sz="2600" i="1" dirty="0">
                <a:latin typeface="Times New Roman" panose="02020603050405020304" pitchFamily="18" charset="0"/>
                <a:cs typeface="Times New Roman" panose="02020603050405020304" pitchFamily="18" charset="0"/>
              </a:rPr>
              <a:t>Real Time Obstacle Detection and Motion Analysis for the Visually Handicapped Using Audio Feedback</a:t>
            </a:r>
          </a:p>
          <a:p>
            <a:r>
              <a:rPr lang="en-US" sz="2600" dirty="0">
                <a:latin typeface="Times New Roman" panose="02020603050405020304" pitchFamily="18" charset="0"/>
                <a:cs typeface="Times New Roman" panose="02020603050405020304" pitchFamily="18" charset="0"/>
              </a:rPr>
              <a:t>The system utilizes a single monocular camera to perceive the environment around the user in real-time.</a:t>
            </a:r>
          </a:p>
          <a:p>
            <a:r>
              <a:rPr lang="en-US" sz="2600" dirty="0">
                <a:latin typeface="Times New Roman" panose="02020603050405020304" pitchFamily="18" charset="0"/>
                <a:cs typeface="Times New Roman" panose="02020603050405020304" pitchFamily="18" charset="0"/>
              </a:rPr>
              <a:t>The paper employs YOLOv8n for object detection and recognition of obstacles.</a:t>
            </a:r>
          </a:p>
          <a:p>
            <a:r>
              <a:rPr lang="en-US" sz="2600" dirty="0">
                <a:latin typeface="Times New Roman" panose="02020603050405020304" pitchFamily="18" charset="0"/>
                <a:cs typeface="Times New Roman" panose="02020603050405020304" pitchFamily="18" charset="0"/>
              </a:rPr>
              <a:t>The system analyzes optical flow, motion, and ego-motion compensation to differentiate between moving obstacles and camera movements.</a:t>
            </a:r>
          </a:p>
          <a:p>
            <a:r>
              <a:rPr lang="en-US" sz="2600" dirty="0">
                <a:latin typeface="Times New Roman" panose="02020603050405020304" pitchFamily="18" charset="0"/>
                <a:cs typeface="Times New Roman" panose="02020603050405020304" pitchFamily="18" charset="0"/>
              </a:rPr>
              <a:t>The system provides audio feedback to the user, notifying about the presence of obstacles and their motion.</a:t>
            </a:r>
          </a:p>
          <a:p>
            <a:r>
              <a:rPr lang="en-US" sz="2600" dirty="0">
                <a:latin typeface="Times New Roman" panose="02020603050405020304" pitchFamily="18" charset="0"/>
                <a:cs typeface="Times New Roman" panose="02020603050405020304" pitchFamily="18" charset="0"/>
              </a:rPr>
              <a:t>In addition, it operates in real-time without requiring LiDAR, stereo vision, or other particular equipment</a:t>
            </a:r>
            <a:r>
              <a:rPr lang="en-US" dirty="0"/>
              <a:t>.</a:t>
            </a:r>
            <a:endParaRPr lang="en-IN" dirty="0"/>
          </a:p>
        </p:txBody>
      </p:sp>
    </p:spTree>
    <p:extLst>
      <p:ext uri="{BB962C8B-B14F-4D97-AF65-F5344CB8AC3E}">
        <p14:creationId xmlns:p14="http://schemas.microsoft.com/office/powerpoint/2010/main" val="342655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FFE42-90A4-163C-05C9-BBFA2266A9A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RESEARCH</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GAP</a:t>
            </a:r>
          </a:p>
        </p:txBody>
      </p:sp>
      <p:sp>
        <p:nvSpPr>
          <p:cNvPr id="3" name="Content Placeholder 2">
            <a:extLst>
              <a:ext uri="{FF2B5EF4-FFF2-40B4-BE49-F238E27FC236}">
                <a16:creationId xmlns:a16="http://schemas.microsoft.com/office/drawing/2014/main" id="{0EE1F63E-C18D-FFEA-ED89-E680AFFC2E59}"/>
              </a:ext>
            </a:extLst>
          </p:cNvPr>
          <p:cNvSpPr>
            <a:spLocks noGrp="1"/>
          </p:cNvSpPr>
          <p:nvPr>
            <p:ph idx="1"/>
          </p:nvPr>
        </p:nvSpPr>
        <p:spPr>
          <a:xfrm>
            <a:off x="1484311" y="2519515"/>
            <a:ext cx="10018713" cy="3124201"/>
          </a:xfrm>
        </p:spPr>
        <p:txBody>
          <a:bodyPr>
            <a:noAutofit/>
          </a:bodyPr>
          <a:lstStyle/>
          <a:p>
            <a:pPr lvl="0"/>
            <a:r>
              <a:rPr lang="en-US" sz="1800" dirty="0">
                <a:latin typeface="Times New Roman" panose="02020603050405020304" pitchFamily="18" charset="0"/>
                <a:cs typeface="Times New Roman" panose="02020603050405020304" pitchFamily="18" charset="0"/>
              </a:rPr>
              <a:t>As mentioned previously most systems are focused on avoiding obstacles and navigating through environments, but they lack information in other areas</a:t>
            </a:r>
          </a:p>
          <a:p>
            <a:pPr lvl="0"/>
            <a:r>
              <a:rPr lang="en-US" sz="1800" dirty="0">
                <a:latin typeface="Times New Roman" panose="02020603050405020304" pitchFamily="18" charset="0"/>
                <a:cs typeface="Times New Roman" panose="02020603050405020304" pitchFamily="18" charset="0"/>
              </a:rPr>
              <a:t>Users require context on what is going on in an area to understand and identify their surroundings, so we believe there should be a more natural method of communication to allow asking and answering of questions about the environment.</a:t>
            </a:r>
          </a:p>
          <a:p>
            <a:pPr lvl="0"/>
            <a:r>
              <a:rPr lang="en-US" sz="1800" dirty="0">
                <a:latin typeface="Times New Roman" panose="02020603050405020304" pitchFamily="18" charset="0"/>
                <a:cs typeface="Times New Roman" panose="02020603050405020304" pitchFamily="18" charset="0"/>
              </a:rPr>
              <a:t>Additionally, the use of an AI system could reach into other areas of daily life to help with retrieving lost items</a:t>
            </a:r>
          </a:p>
          <a:p>
            <a:pPr lvl="0"/>
            <a:r>
              <a:rPr lang="en-US" sz="1800" dirty="0">
                <a:latin typeface="Times New Roman" panose="02020603050405020304" pitchFamily="18" charset="0"/>
                <a:cs typeface="Times New Roman" panose="02020603050405020304" pitchFamily="18" charset="0"/>
              </a:rPr>
              <a:t>We think that a mobile application with built-in artificial intelligence would be the perfect way to combine all of these ideas and create something that could navigate through environments, have a better grasp of the world around it, talk to the user in a more natural way, and even help ensure their safety in the process</a:t>
            </a:r>
            <a:r>
              <a:rPr lang="en-US" sz="1800" dirty="0"/>
              <a:t>.</a:t>
            </a:r>
            <a:endParaRPr lang="en-IN" sz="1800" dirty="0"/>
          </a:p>
        </p:txBody>
      </p:sp>
    </p:spTree>
    <p:extLst>
      <p:ext uri="{BB962C8B-B14F-4D97-AF65-F5344CB8AC3E}">
        <p14:creationId xmlns:p14="http://schemas.microsoft.com/office/powerpoint/2010/main" val="3268060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F104-C325-8FD3-2FBA-D646FABE41F2}"/>
              </a:ext>
            </a:extLst>
          </p:cNvPr>
          <p:cNvSpPr>
            <a:spLocks noGrp="1"/>
          </p:cNvSpPr>
          <p:nvPr>
            <p:ph type="title"/>
          </p:nvPr>
        </p:nvSpPr>
        <p:spPr>
          <a:xfrm>
            <a:off x="1484311" y="223682"/>
            <a:ext cx="10018713" cy="1752599"/>
          </a:xfrm>
        </p:spPr>
        <p:txBody>
          <a:bodyPr/>
          <a:lstStyle/>
          <a:p>
            <a:r>
              <a:rPr lang="en-US" dirty="0">
                <a:solidFill>
                  <a:schemeClr val="dk1"/>
                </a:solidFill>
                <a:latin typeface="Times New Roman" panose="02020603050405020304" pitchFamily="18" charset="0"/>
                <a:ea typeface="Gill Sans"/>
                <a:cs typeface="Times New Roman" panose="02020603050405020304" pitchFamily="18" charset="0"/>
                <a:sym typeface="Gill Sans"/>
              </a:rPr>
              <a:t>PROPOSED APPROACH</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D12BE2-C7AC-2EEF-2443-32BFBC46F152}"/>
              </a:ext>
            </a:extLst>
          </p:cNvPr>
          <p:cNvSpPr>
            <a:spLocks noGrp="1"/>
          </p:cNvSpPr>
          <p:nvPr>
            <p:ph idx="1"/>
          </p:nvPr>
        </p:nvSpPr>
        <p:spPr>
          <a:xfrm>
            <a:off x="1484311" y="2251585"/>
            <a:ext cx="10018713" cy="3124201"/>
          </a:xfrm>
        </p:spPr>
        <p:txBody>
          <a:bodyPr>
            <a:noAutofit/>
          </a:bodyPr>
          <a:lstStyle/>
          <a:p>
            <a:r>
              <a:rPr lang="en-US" sz="1800" b="1" dirty="0">
                <a:latin typeface="Times New Roman" panose="02020603050405020304" pitchFamily="18" charset="0"/>
                <a:cs typeface="Times New Roman" panose="02020603050405020304" pitchFamily="18" charset="0"/>
              </a:rPr>
              <a:t>Mobile AI Assistant: </a:t>
            </a:r>
            <a:r>
              <a:rPr lang="en-US" sz="1800" dirty="0">
                <a:latin typeface="Times New Roman" panose="02020603050405020304" pitchFamily="18" charset="0"/>
                <a:cs typeface="Times New Roman" panose="02020603050405020304" pitchFamily="18" charset="0"/>
              </a:rPr>
              <a:t>Develop a solution making use of the smartphone’s camera, microphone, and loudspeaker to deliver visual, mobile assistance in real-time.</a:t>
            </a:r>
          </a:p>
          <a:p>
            <a:r>
              <a:rPr lang="en-US" sz="1800" b="1" dirty="0">
                <a:latin typeface="Times New Roman" panose="02020603050405020304" pitchFamily="18" charset="0"/>
                <a:cs typeface="Times New Roman" panose="02020603050405020304" pitchFamily="18" charset="0"/>
              </a:rPr>
              <a:t>Intelligent Navigation: </a:t>
            </a:r>
            <a:r>
              <a:rPr lang="en-US" sz="1800" dirty="0">
                <a:latin typeface="Times New Roman" panose="02020603050405020304" pitchFamily="18" charset="0"/>
                <a:cs typeface="Times New Roman" panose="02020603050405020304" pitchFamily="18" charset="0"/>
              </a:rPr>
              <a:t>Build upon the existing capability of the paper and develop an object detection, motion recognition, and audio prompt based navigation assistance to support better independent mobility.</a:t>
            </a:r>
          </a:p>
          <a:p>
            <a:r>
              <a:rPr lang="en-US" sz="1800" b="1" dirty="0">
                <a:latin typeface="Times New Roman" panose="02020603050405020304" pitchFamily="18" charset="0"/>
                <a:cs typeface="Times New Roman" panose="02020603050405020304" pitchFamily="18" charset="0"/>
              </a:rPr>
              <a:t>Environmental Understanding: </a:t>
            </a:r>
            <a:r>
              <a:rPr lang="en-US" sz="1800" dirty="0">
                <a:latin typeface="Times New Roman" panose="02020603050405020304" pitchFamily="18" charset="0"/>
                <a:cs typeface="Times New Roman" panose="02020603050405020304" pitchFamily="18" charset="0"/>
              </a:rPr>
              <a:t>Leverage computer vision-based scene segmentation and object detection capabilities to enable scene description, thereby providing richer environmental perception and awareness.</a:t>
            </a:r>
          </a:p>
          <a:p>
            <a:r>
              <a:rPr lang="en-IN" sz="1800" b="1" dirty="0">
                <a:latin typeface="Times New Roman" panose="02020603050405020304" pitchFamily="18" charset="0"/>
                <a:cs typeface="Times New Roman" panose="02020603050405020304" pitchFamily="18" charset="0"/>
              </a:rPr>
              <a:t>Accessible Information Assistance: </a:t>
            </a:r>
            <a:r>
              <a:rPr lang="en-IN" sz="1800" dirty="0">
                <a:latin typeface="Times New Roman" panose="02020603050405020304" pitchFamily="18" charset="0"/>
                <a:cs typeface="Times New Roman" panose="02020603050405020304" pitchFamily="18" charset="0"/>
              </a:rPr>
              <a:t>Uses OCR and AI to read books, documents, medicine labels, signs, and other printed text, while also providing useful updates such as weather information.</a:t>
            </a:r>
          </a:p>
          <a:p>
            <a:r>
              <a:rPr lang="en-US" sz="1800" b="1" dirty="0">
                <a:latin typeface="Times New Roman" panose="02020603050405020304" pitchFamily="18" charset="0"/>
                <a:cs typeface="Times New Roman" panose="02020603050405020304" pitchFamily="18" charset="0"/>
              </a:rPr>
              <a:t>Object Tracking and SOS: </a:t>
            </a:r>
            <a:r>
              <a:rPr lang="en-US" sz="1800" dirty="0">
                <a:latin typeface="Times New Roman" panose="02020603050405020304" pitchFamily="18" charset="0"/>
                <a:cs typeface="Times New Roman" panose="02020603050405020304" pitchFamily="18" charset="0"/>
              </a:rPr>
              <a:t>Provide an optional important-object tracking feature and an emergency SOS feature that can assist the user in managing day-to-day tasks and seek assistance whenever required.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077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329C1-E6D0-3C9A-04E1-D2664580C7BA}"/>
              </a:ext>
            </a:extLst>
          </p:cNvPr>
          <p:cNvSpPr>
            <a:spLocks noGrp="1"/>
          </p:cNvSpPr>
          <p:nvPr>
            <p:ph type="title"/>
          </p:nvPr>
        </p:nvSpPr>
        <p:spPr/>
        <p:txBody>
          <a:bodyPr/>
          <a:lstStyle/>
          <a:p>
            <a:r>
              <a:rPr lang="en-US" dirty="0">
                <a:solidFill>
                  <a:schemeClr val="dk1"/>
                </a:solidFill>
                <a:latin typeface="Times New Roman" panose="02020603050405020304" pitchFamily="18" charset="0"/>
                <a:ea typeface="Gill Sans"/>
                <a:cs typeface="Times New Roman" panose="02020603050405020304" pitchFamily="18" charset="0"/>
                <a:sym typeface="Gill Sans"/>
              </a:rPr>
              <a:t>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323A09-01F5-1BC9-011F-68077E585FA2}"/>
              </a:ext>
            </a:extLst>
          </p:cNvPr>
          <p:cNvSpPr>
            <a:spLocks noGrp="1"/>
          </p:cNvSpPr>
          <p:nvPr>
            <p:ph idx="1"/>
          </p:nvPr>
        </p:nvSpPr>
        <p:spPr>
          <a:xfrm>
            <a:off x="1484311" y="2153586"/>
            <a:ext cx="10018713" cy="3124201"/>
          </a:xfrm>
        </p:spPr>
        <p:txBody>
          <a:bodyPr>
            <a:normAutofit/>
          </a:bodyPr>
          <a:lstStyle/>
          <a:p>
            <a:r>
              <a:rPr lang="en-US" sz="1800" dirty="0">
                <a:latin typeface="Times New Roman" panose="02020603050405020304" pitchFamily="18" charset="0"/>
                <a:cs typeface="Times New Roman" panose="02020603050405020304" pitchFamily="18" charset="0"/>
              </a:rPr>
              <a:t>Improving independent mobility by helping users navigate unfamiliar environments, avoiding obstacles and identifying moving objects</a:t>
            </a:r>
          </a:p>
          <a:p>
            <a:r>
              <a:rPr lang="en-US" sz="1800" dirty="0">
                <a:latin typeface="Times New Roman" panose="02020603050405020304" pitchFamily="18" charset="0"/>
                <a:cs typeface="Times New Roman" panose="02020603050405020304" pitchFamily="18" charset="0"/>
              </a:rPr>
              <a:t>Become more aware of their surroundings by giving verbal descriptions of people, objects or locations of interest in the user’s environment</a:t>
            </a:r>
          </a:p>
          <a:p>
            <a:r>
              <a:rPr lang="en-US" sz="1800" dirty="0">
                <a:latin typeface="Times New Roman" panose="02020603050405020304" pitchFamily="18" charset="0"/>
                <a:cs typeface="Times New Roman" panose="02020603050405020304" pitchFamily="18" charset="0"/>
              </a:rPr>
              <a:t>Getting assistance to find important objects such as keys, a wallet, a bag or medication.</a:t>
            </a:r>
          </a:p>
          <a:p>
            <a:r>
              <a:rPr lang="en-IN" sz="1800" dirty="0">
                <a:latin typeface="Times New Roman" panose="02020603050405020304" pitchFamily="18" charset="0"/>
                <a:cs typeface="Times New Roman" panose="02020603050405020304" pitchFamily="18" charset="0"/>
              </a:rPr>
              <a:t>Enable natural voice-based interaction, allowing users to ask questions and receive contextual information about their surroundings.</a:t>
            </a:r>
          </a:p>
          <a:p>
            <a:r>
              <a:rPr lang="en-US" sz="1800" dirty="0">
                <a:latin typeface="Times New Roman" panose="02020603050405020304" pitchFamily="18" charset="0"/>
                <a:cs typeface="Times New Roman" panose="02020603050405020304" pitchFamily="18" charset="0"/>
              </a:rPr>
              <a:t>The ability to improve personal safety by focusing attention on potential dangers and offering an emergency SOS functionality to request help when needed.</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717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E79AE-BC24-8DFC-B54D-02D89870A9B9}"/>
              </a:ext>
            </a:extLst>
          </p:cNvPr>
          <p:cNvSpPr>
            <a:spLocks noGrp="1"/>
          </p:cNvSpPr>
          <p:nvPr>
            <p:ph type="title"/>
          </p:nvPr>
        </p:nvSpPr>
        <p:spPr/>
        <p:txBody>
          <a:bodyPr/>
          <a:lstStyle/>
          <a:p>
            <a:r>
              <a:rPr lang="en-US" dirty="0">
                <a:solidFill>
                  <a:schemeClr val="dk1"/>
                </a:solidFill>
                <a:latin typeface="Times New Roman" panose="02020603050405020304" pitchFamily="18" charset="0"/>
                <a:ea typeface="Gill Sans"/>
                <a:cs typeface="Times New Roman" panose="02020603050405020304" pitchFamily="18" charset="0"/>
                <a:sym typeface="Gill Sans"/>
              </a:rPr>
              <a:t>NOVELTY IN PROJECT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F0A5EA-DE46-E546-D91E-31003BEDD772}"/>
              </a:ext>
            </a:extLst>
          </p:cNvPr>
          <p:cNvSpPr>
            <a:spLocks noGrp="1"/>
          </p:cNvSpPr>
          <p:nvPr>
            <p:ph idx="1"/>
          </p:nvPr>
        </p:nvSpPr>
        <p:spPr>
          <a:xfrm>
            <a:off x="1484311" y="2438399"/>
            <a:ext cx="10018713" cy="3124201"/>
          </a:xfrm>
        </p:spPr>
        <p:txBody>
          <a:bodyPr>
            <a:normAutofit/>
          </a:bodyPr>
          <a:lstStyle/>
          <a:p>
            <a:r>
              <a:rPr lang="en-US" sz="1800" dirty="0">
                <a:latin typeface="Times New Roman" panose="02020603050405020304" pitchFamily="18" charset="0"/>
                <a:cs typeface="Times New Roman" panose="02020603050405020304" pitchFamily="18" charset="0"/>
              </a:rPr>
              <a:t>A mobile based assistant AI, which unifies several capabilities into one convenient application on the user’s smartphone.</a:t>
            </a:r>
          </a:p>
          <a:p>
            <a:r>
              <a:rPr lang="en-US" sz="1800" dirty="0">
                <a:latin typeface="Times New Roman" panose="02020603050405020304" pitchFamily="18" charset="0"/>
                <a:cs typeface="Times New Roman" panose="02020603050405020304" pitchFamily="18" charset="0"/>
              </a:rPr>
              <a:t>Personalized object assistance enables the user to find important items such as keys, wallets, bags, and medicines.</a:t>
            </a:r>
          </a:p>
          <a:p>
            <a:r>
              <a:rPr lang="en-US" sz="1800" dirty="0">
                <a:latin typeface="Times New Roman" panose="02020603050405020304" pitchFamily="18" charset="0"/>
                <a:cs typeface="Times New Roman" panose="02020603050405020304" pitchFamily="18" charset="0"/>
              </a:rPr>
              <a:t>Contextual scene understanding provides additional information about the items and the environment.</a:t>
            </a:r>
          </a:p>
          <a:p>
            <a:r>
              <a:rPr lang="en-US" sz="1800" dirty="0">
                <a:latin typeface="Times New Roman" panose="02020603050405020304" pitchFamily="18" charset="0"/>
                <a:cs typeface="Times New Roman" panose="02020603050405020304" pitchFamily="18" charset="0"/>
              </a:rPr>
              <a:t>Voice control lets the user ask questions and get answers about the environment.</a:t>
            </a:r>
          </a:p>
          <a:p>
            <a:r>
              <a:rPr lang="en-US" sz="1800" dirty="0">
                <a:latin typeface="Times New Roman" panose="02020603050405020304" pitchFamily="18" charset="0"/>
                <a:cs typeface="Times New Roman" panose="02020603050405020304" pitchFamily="18" charset="0"/>
              </a:rPr>
              <a:t>Navigation and safety assistance includes avoiding obstacles, finding the right location, and an emergency SOS.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7243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CBE35-E6F4-FD15-B274-FBC9B1B4070F}"/>
              </a:ext>
            </a:extLst>
          </p:cNvPr>
          <p:cNvSpPr>
            <a:spLocks noGrp="1"/>
          </p:cNvSpPr>
          <p:nvPr>
            <p:ph type="title"/>
          </p:nvPr>
        </p:nvSpPr>
        <p:spPr>
          <a:xfrm>
            <a:off x="1335087" y="236095"/>
            <a:ext cx="10018713" cy="1752599"/>
          </a:xfrm>
        </p:spPr>
        <p:txBody>
          <a:bodyPr/>
          <a:lstStyle/>
          <a:p>
            <a:r>
              <a:rPr lang="en-IN"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A18F3B17-FB58-EA58-CDFF-F36E236D3AB5}"/>
              </a:ext>
            </a:extLst>
          </p:cNvPr>
          <p:cNvSpPr>
            <a:spLocks noGrp="1"/>
          </p:cNvSpPr>
          <p:nvPr>
            <p:ph idx="1"/>
          </p:nvPr>
        </p:nvSpPr>
        <p:spPr>
          <a:xfrm>
            <a:off x="1335087" y="1705678"/>
            <a:ext cx="10515600" cy="4464306"/>
          </a:xfrm>
        </p:spPr>
        <p:txBody>
          <a:bodyPr>
            <a:normAutofit/>
          </a:bodyPr>
          <a:lstStyle/>
          <a:p>
            <a:r>
              <a:rPr lang="en-IN" sz="1800" dirty="0">
                <a:latin typeface="Times New Roman" panose="02020603050405020304" pitchFamily="18" charset="0"/>
                <a:cs typeface="Times New Roman" panose="02020603050405020304" pitchFamily="18" charset="0"/>
              </a:rPr>
              <a:t>S. Shanker and R. </a:t>
            </a:r>
            <a:r>
              <a:rPr lang="en-IN" sz="1800" dirty="0" err="1">
                <a:latin typeface="Times New Roman" panose="02020603050405020304" pitchFamily="18" charset="0"/>
                <a:cs typeface="Times New Roman" panose="02020603050405020304" pitchFamily="18" charset="0"/>
              </a:rPr>
              <a:t>Radhu</a:t>
            </a:r>
            <a:r>
              <a:rPr lang="en-IN" sz="1800" dirty="0">
                <a:latin typeface="Times New Roman" panose="02020603050405020304" pitchFamily="18" charset="0"/>
                <a:cs typeface="Times New Roman" panose="02020603050405020304" pitchFamily="18" charset="0"/>
              </a:rPr>
              <a:t> Krishna, </a:t>
            </a:r>
            <a:r>
              <a:rPr lang="en-IN" sz="1800" i="1" dirty="0">
                <a:latin typeface="Times New Roman" panose="02020603050405020304" pitchFamily="18" charset="0"/>
                <a:cs typeface="Times New Roman" panose="02020603050405020304" pitchFamily="18" charset="0"/>
              </a:rPr>
              <a:t>Real-Time Obstacle Detection and Motion Analysis for Visually Impaired Navigation With Audio Feedback</a:t>
            </a:r>
            <a:r>
              <a:rPr lang="en-IN" sz="1800" dirty="0">
                <a:latin typeface="Times New Roman" panose="02020603050405020304" pitchFamily="18" charset="0"/>
                <a:cs typeface="Times New Roman" panose="02020603050405020304" pitchFamily="18" charset="0"/>
              </a:rPr>
              <a:t>, IEEE Access, 2026.</a:t>
            </a:r>
          </a:p>
          <a:p>
            <a:r>
              <a:rPr lang="en-IN" sz="1800" dirty="0">
                <a:latin typeface="Times New Roman" panose="02020603050405020304" pitchFamily="18" charset="0"/>
                <a:cs typeface="Times New Roman" panose="02020603050405020304" pitchFamily="18" charset="0"/>
              </a:rPr>
              <a:t>G. K. Bastidas-Guacho et al., </a:t>
            </a:r>
            <a:r>
              <a:rPr lang="en-IN" sz="1800" i="1" dirty="0">
                <a:latin typeface="Times New Roman" panose="02020603050405020304" pitchFamily="18" charset="0"/>
                <a:cs typeface="Times New Roman" panose="02020603050405020304" pitchFamily="18" charset="0"/>
              </a:rPr>
              <a:t>Computer Vision-Based Obstacle Detection Mobile System for Visually Impaired Individuals</a:t>
            </a:r>
            <a:r>
              <a:rPr lang="en-IN" sz="1800" dirty="0">
                <a:latin typeface="Times New Roman" panose="02020603050405020304" pitchFamily="18" charset="0"/>
                <a:cs typeface="Times New Roman" panose="02020603050405020304" pitchFamily="18" charset="0"/>
              </a:rPr>
              <a:t>, MTI, 2025.</a:t>
            </a:r>
          </a:p>
          <a:p>
            <a:r>
              <a:rPr lang="en-IN" sz="1800" dirty="0">
                <a:latin typeface="Times New Roman" panose="02020603050405020304" pitchFamily="18" charset="0"/>
                <a:cs typeface="Times New Roman" panose="02020603050405020304" pitchFamily="18" charset="0"/>
              </a:rPr>
              <a:t>D. Das et al., </a:t>
            </a:r>
            <a:r>
              <a:rPr lang="en-IN" sz="1800" i="1" dirty="0">
                <a:latin typeface="Times New Roman" panose="02020603050405020304" pitchFamily="18" charset="0"/>
                <a:cs typeface="Times New Roman" panose="02020603050405020304" pitchFamily="18" charset="0"/>
              </a:rPr>
              <a:t>Real-Time Assistive Navigation for the Visually Impaired: A Scalable Approach for Indoor and Outdoor Mobility</a:t>
            </a:r>
            <a:r>
              <a:rPr lang="en-IN" sz="1800" dirty="0">
                <a:latin typeface="Times New Roman" panose="02020603050405020304" pitchFamily="18" charset="0"/>
                <a:cs typeface="Times New Roman" panose="02020603050405020304" pitchFamily="18" charset="0"/>
              </a:rPr>
              <a:t>, 2025.</a:t>
            </a:r>
          </a:p>
          <a:p>
            <a:r>
              <a:rPr lang="en-IN" sz="1800" dirty="0">
                <a:latin typeface="Times New Roman" panose="02020603050405020304" pitchFamily="18" charset="0"/>
                <a:cs typeface="Times New Roman" panose="02020603050405020304" pitchFamily="18" charset="0"/>
              </a:rPr>
              <a:t>S. Dubey et al., </a:t>
            </a:r>
            <a:r>
              <a:rPr lang="en-IN" sz="1800" i="1" dirty="0">
                <a:latin typeface="Times New Roman" panose="02020603050405020304" pitchFamily="18" charset="0"/>
                <a:cs typeface="Times New Roman" panose="02020603050405020304" pitchFamily="18" charset="0"/>
              </a:rPr>
              <a:t>Guidance System for Visually Impaired Persons Using Deep Learning and Optical Flow</a:t>
            </a:r>
            <a:r>
              <a:rPr lang="en-IN" sz="1800" dirty="0">
                <a:latin typeface="Times New Roman" panose="02020603050405020304" pitchFamily="18" charset="0"/>
                <a:cs typeface="Times New Roman" panose="02020603050405020304" pitchFamily="18" charset="0"/>
              </a:rPr>
              <a:t>, 2023.</a:t>
            </a:r>
          </a:p>
          <a:p>
            <a:r>
              <a:rPr lang="en-IN" sz="1800" dirty="0">
                <a:latin typeface="Times New Roman" panose="02020603050405020304" pitchFamily="18" charset="0"/>
                <a:cs typeface="Times New Roman" panose="02020603050405020304" pitchFamily="18" charset="0"/>
              </a:rPr>
              <a:t>A. Noor et al., </a:t>
            </a:r>
            <a:r>
              <a:rPr lang="en-IN" sz="1800" i="1" dirty="0">
                <a:latin typeface="Times New Roman" panose="02020603050405020304" pitchFamily="18" charset="0"/>
                <a:cs typeface="Times New Roman" panose="02020603050405020304" pitchFamily="18" charset="0"/>
              </a:rPr>
              <a:t>Towards a Real-Time Indoor Object Detection for Visually Impaired Users Using Raspberry Pi 4 and YOLOv11</a:t>
            </a:r>
            <a:r>
              <a:rPr lang="en-IN" sz="1800" dirty="0">
                <a:latin typeface="Times New Roman" panose="02020603050405020304" pitchFamily="18" charset="0"/>
                <a:cs typeface="Times New Roman" panose="02020603050405020304" pitchFamily="18" charset="0"/>
              </a:rPr>
              <a:t>, 2025.</a:t>
            </a:r>
          </a:p>
          <a:p>
            <a:r>
              <a:rPr lang="en-IN" sz="1800" dirty="0">
                <a:latin typeface="Times New Roman" panose="02020603050405020304" pitchFamily="18" charset="0"/>
                <a:cs typeface="Times New Roman" panose="02020603050405020304" pitchFamily="18" charset="0"/>
              </a:rPr>
              <a:t>V. M. Jemin and R. Sasikumar, </a:t>
            </a:r>
            <a:r>
              <a:rPr lang="en-IN" sz="1800" i="1" dirty="0">
                <a:latin typeface="Times New Roman" panose="02020603050405020304" pitchFamily="18" charset="0"/>
                <a:cs typeface="Times New Roman" panose="02020603050405020304" pitchFamily="18" charset="0"/>
              </a:rPr>
              <a:t>An Enhanced Real-Time Framework for Visually Impaired: Obstacle Detection and Scene Perception Under Various Circumstances</a:t>
            </a:r>
            <a:r>
              <a:rPr lang="en-IN" sz="1800" dirty="0">
                <a:latin typeface="Times New Roman" panose="02020603050405020304" pitchFamily="18" charset="0"/>
                <a:cs typeface="Times New Roman" panose="02020603050405020304" pitchFamily="18" charset="0"/>
              </a:rPr>
              <a:t>, 2025.</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026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331569-9F74-B14E-EF37-EE84F15ACC24}"/>
              </a:ext>
            </a:extLst>
          </p:cNvPr>
          <p:cNvSpPr>
            <a:spLocks noGrp="1"/>
          </p:cNvSpPr>
          <p:nvPr>
            <p:ph idx="1"/>
          </p:nvPr>
        </p:nvSpPr>
        <p:spPr>
          <a:xfrm>
            <a:off x="838200" y="959370"/>
            <a:ext cx="10515600" cy="2690153"/>
          </a:xfrm>
        </p:spPr>
        <p:txBody>
          <a:bodyPr>
            <a:noAutofit/>
          </a:bodyPr>
          <a:lstStyle/>
          <a:p>
            <a:pPr marL="0" indent="0">
              <a:buNone/>
            </a:pPr>
            <a:endParaRPr lang="en-IN" sz="10000" dirty="0"/>
          </a:p>
          <a:p>
            <a:pPr marL="0" indent="0">
              <a:buNone/>
            </a:pPr>
            <a:r>
              <a:rPr lang="en-IN" sz="10000" dirty="0"/>
              <a:t>        </a:t>
            </a:r>
            <a:r>
              <a:rPr lang="en-IN" sz="10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1163172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248</TotalTime>
  <Words>1257</Words>
  <Application>Microsoft Office PowerPoint</Application>
  <PresentationFormat>Widescreen</PresentationFormat>
  <Paragraphs>104</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Corbel</vt:lpstr>
      <vt:lpstr>Times New Roman</vt:lpstr>
      <vt:lpstr>Wingdings</vt:lpstr>
      <vt:lpstr>Parallax</vt:lpstr>
      <vt:lpstr>PowerPoint Presentation</vt:lpstr>
      <vt:lpstr>CONTENT</vt:lpstr>
      <vt:lpstr>INTRODUCTION</vt:lpstr>
      <vt:lpstr>OBJECTIVE</vt:lpstr>
      <vt:lpstr>LITERATURE REVIEW </vt:lpstr>
      <vt:lpstr>BASE PAPER</vt:lpstr>
      <vt:lpstr>RESEARCH GAP</vt:lpstr>
      <vt:lpstr>PROPOSED APPROACH</vt:lpstr>
      <vt:lpstr>SCOPE</vt:lpstr>
      <vt:lpstr>NOVELTY IN PROJECT</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rafiqmohamed025@gmail.com</dc:creator>
  <cp:lastModifiedBy>rafiqmohamed025@gmail.com</cp:lastModifiedBy>
  <cp:revision>9</cp:revision>
  <dcterms:created xsi:type="dcterms:W3CDTF">2026-08-08T08:37:54Z</dcterms:created>
  <dcterms:modified xsi:type="dcterms:W3CDTF">2026-08-10T04:35:45Z</dcterms:modified>
</cp:coreProperties>
</file>